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3" r:id="rId2"/>
    <p:sldId id="274" r:id="rId3"/>
    <p:sldId id="275" r:id="rId4"/>
    <p:sldId id="259" r:id="rId5"/>
    <p:sldId id="277" r:id="rId6"/>
    <p:sldId id="260" r:id="rId7"/>
    <p:sldId id="279" r:id="rId8"/>
    <p:sldId id="280" r:id="rId9"/>
    <p:sldId id="281" r:id="rId10"/>
    <p:sldId id="282" r:id="rId11"/>
    <p:sldId id="262" r:id="rId12"/>
    <p:sldId id="284" r:id="rId13"/>
    <p:sldId id="285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Distribution of NDIR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NDIR Range</c:v>
                </c:pt>
              </c:strCache>
            </c:strRef>
          </c:tx>
          <c:spPr>
            <a:solidFill>
              <a:srgbClr val="0D7C8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&lt;-20</c:v>
                </c:pt>
                <c:pt idx="1">
                  <c:v>-20 to 0</c:v>
                </c:pt>
                <c:pt idx="2">
                  <c:v>0–10</c:v>
                </c:pt>
                <c:pt idx="3">
                  <c:v>10–30</c:v>
                </c:pt>
                <c:pt idx="4">
                  <c:v>30–60</c:v>
                </c:pt>
                <c:pt idx="5">
                  <c:v>&gt;60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12</c:v>
                </c:pt>
                <c:pt idx="3">
                  <c:v>11</c:v>
                </c:pt>
                <c:pt idx="4">
                  <c:v>7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43-44B7-9369-1247672A5D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States by Region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D3-4FAA-A4CC-28B2039699AE}"/>
              </c:ext>
            </c:extLst>
          </c:dPt>
          <c:dPt>
            <c:idx val="1"/>
            <c:bubble3D val="0"/>
            <c:spPr>
              <a:solidFill>
                <a:srgbClr val="0D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D3-4FAA-A4CC-28B2039699AE}"/>
              </c:ext>
            </c:extLst>
          </c:dPt>
          <c:dPt>
            <c:idx val="2"/>
            <c:bubble3D val="0"/>
            <c:spPr>
              <a:solidFill>
                <a:srgbClr val="F2A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D3-4FAA-A4CC-28B2039699AE}"/>
              </c:ext>
            </c:extLst>
          </c:dPt>
          <c:dPt>
            <c:idx val="3"/>
            <c:bubble3D val="0"/>
            <c:spPr>
              <a:solidFill>
                <a:srgbClr val="1AB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ED3-4FAA-A4CC-28B2039699A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D3-4FAA-A4CC-28B2039699A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D3-4FAA-A4CC-28B2039699A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D3-4FAA-A4CC-28B2039699A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ED3-4FAA-A4CC-28B2039699A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Midwest</c:v>
                </c:pt>
                <c:pt idx="1">
                  <c:v>Northeast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10</c:v>
                </c:pt>
                <c:pt idx="2">
                  <c:v>16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D3-4FAA-A4CC-28B2039699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19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590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346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637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799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475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757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776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1422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89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845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389120" cy="4389120"/>
          </a:xfrm>
          <a:prstGeom prst="ellipse">
            <a:avLst/>
          </a:prstGeom>
          <a:solidFill>
            <a:srgbClr val="1B4F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365760"/>
            <a:ext cx="2743200" cy="2743200"/>
          </a:xfrm>
          <a:prstGeom prst="ellipse">
            <a:avLst/>
          </a:prstGeom>
          <a:solidFill>
            <a:srgbClr val="2E6DA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Determinants of Domestic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50" normalizeH="0" baseline="0" noProof="0" dirty="0">
                <a:ln>
                  <a:noFill/>
                </a:ln>
                <a:solidFill>
                  <a:srgbClr val="F0C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In-Migration Across US States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A8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 ·  MLR  ·  Stepwise AIC Selection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828800" cy="804672"/>
          </a:xfrm>
          <a:prstGeom prst="rect">
            <a:avLst/>
          </a:prstGeom>
          <a:solidFill>
            <a:srgbClr val="2E6DA4">
              <a:alpha val="75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9260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51760" y="2880360"/>
            <a:ext cx="1828800" cy="804672"/>
          </a:xfrm>
          <a:prstGeom prst="rect">
            <a:avLst/>
          </a:prstGeom>
          <a:solidFill>
            <a:srgbClr val="0D7377">
              <a:alpha val="75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29260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51760" y="3337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2880360"/>
            <a:ext cx="1828800" cy="804672"/>
          </a:xfrm>
          <a:prstGeom prst="rect">
            <a:avLst/>
          </a:prstGeom>
          <a:solidFill>
            <a:srgbClr val="1A6B5C">
              <a:alpha val="75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9260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MLR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0" y="3337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0" y="2880360"/>
            <a:ext cx="1828800" cy="804672"/>
          </a:xfrm>
          <a:prstGeom prst="rect">
            <a:avLst/>
          </a:prstGeom>
          <a:solidFill>
            <a:srgbClr val="7B3F00">
              <a:alpha val="75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9260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(Stepwise)AIC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0" y="3337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7A9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MSc Statistics — Semester 2   |   Academic Year 2025–26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416966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Shubham Chavan (2514)   ·   Tejal Take (2553)   ·   Prajakta Gaikwad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(2518)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14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Deconstruction — 10 Candidate Predictors of Migration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1828800" cy="4251960"/>
          </a:xfrm>
          <a:prstGeom prst="rect">
            <a:avLst/>
          </a:prstGeom>
          <a:solidFill>
            <a:srgbClr val="0F2044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777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0C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0C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NDIR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217627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8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 Domestic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8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In-migration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8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Rate per 1,000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8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4480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0C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 (Response)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21408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87168" y="685800"/>
            <a:ext cx="2084832" cy="4251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685800"/>
            <a:ext cx="2084832" cy="3474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70408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Economic Drivers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60320" y="1115568"/>
            <a:ext cx="621792" cy="274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13385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Unemp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36976" y="1133856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 (%)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60320" y="1865376"/>
            <a:ext cx="621792" cy="274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88366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Wage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36976" y="1883664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Avg. hourly wage ($/hr)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0" y="2615184"/>
            <a:ext cx="621792" cy="274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63347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36976" y="2633472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Per-capita income ($)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60320" y="3364992"/>
            <a:ext cx="621792" cy="274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338328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36976" y="3383280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 below poverty line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60320" y="4114800"/>
            <a:ext cx="621792" cy="274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413308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Taxes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36976" y="4133088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Per-capita state tax ($)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63440" y="685800"/>
            <a:ext cx="2084832" cy="4251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685800"/>
            <a:ext cx="2084832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9" name="Text 27"/>
          <p:cNvSpPr/>
          <p:nvPr/>
        </p:nvSpPr>
        <p:spPr>
          <a:xfrm>
            <a:off x="4718304" y="70408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Socio-Demographic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36592" y="1115568"/>
            <a:ext cx="621792" cy="2743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113385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Crime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13248" y="1133856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Crime rate per 100,000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36592" y="1865376"/>
            <a:ext cx="621792" cy="2743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4" name="Text 32"/>
          <p:cNvSpPr/>
          <p:nvPr/>
        </p:nvSpPr>
        <p:spPr>
          <a:xfrm>
            <a:off x="4736592" y="188366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Metrop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13248" y="1883664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 in metro areas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36592" y="2615184"/>
            <a:ext cx="621792" cy="2743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263347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Educ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13248" y="2633472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 HS graduates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36592" y="3364992"/>
            <a:ext cx="621792" cy="2743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0" name="Text 38"/>
          <p:cNvSpPr/>
          <p:nvPr/>
        </p:nvSpPr>
        <p:spPr>
          <a:xfrm>
            <a:off x="4736592" y="338328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BusFail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13248" y="3383280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failure rate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839712" y="685800"/>
            <a:ext cx="2084832" cy="4251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39712" y="685800"/>
            <a:ext cx="2084832" cy="347472"/>
          </a:xfrm>
          <a:prstGeom prst="rect">
            <a:avLst/>
          </a:prstGeom>
          <a:solidFill>
            <a:srgbClr val="1A6B5C"/>
          </a:solidFill>
          <a:ln/>
        </p:spPr>
      </p:sp>
      <p:sp>
        <p:nvSpPr>
          <p:cNvPr id="44" name="Text 42"/>
          <p:cNvSpPr/>
          <p:nvPr/>
        </p:nvSpPr>
        <p:spPr>
          <a:xfrm>
            <a:off x="6894576" y="70408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Geographic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912864" y="1115568"/>
            <a:ext cx="621792" cy="274320"/>
          </a:xfrm>
          <a:prstGeom prst="rect">
            <a:avLst/>
          </a:prstGeom>
          <a:solidFill>
            <a:srgbClr val="1A6B5C"/>
          </a:solidFill>
          <a:ln/>
        </p:spPr>
      </p:sp>
      <p:sp>
        <p:nvSpPr>
          <p:cNvPr id="46" name="Text 44"/>
          <p:cNvSpPr/>
          <p:nvPr/>
        </p:nvSpPr>
        <p:spPr>
          <a:xfrm>
            <a:off x="6912864" y="113385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589520" y="1133856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Mean annual temp (°F)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912864" y="1865376"/>
            <a:ext cx="621792" cy="274320"/>
          </a:xfrm>
          <a:prstGeom prst="rect">
            <a:avLst/>
          </a:prstGeom>
          <a:solidFill>
            <a:srgbClr val="1A6B5C"/>
          </a:solidFill>
          <a:ln/>
        </p:spPr>
      </p:sp>
      <p:sp>
        <p:nvSpPr>
          <p:cNvPr id="49" name="Text 47"/>
          <p:cNvSpPr/>
          <p:nvPr/>
        </p:nvSpPr>
        <p:spPr>
          <a:xfrm>
            <a:off x="6912864" y="188366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589520" y="1883664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Midwest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Northeast · South · West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834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 — Variables &amp; Dataset Overview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274319" y="658368"/>
          <a:ext cx="7365135" cy="3991455"/>
        </p:xfrm>
        <a:graphic>
          <a:graphicData uri="http://schemas.openxmlformats.org/drawingml/2006/table">
            <a:tbl>
              <a:tblPr/>
              <a:tblGrid>
                <a:gridCol w="1012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2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0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NDIR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Net domestic in-migration rate (per 1,000 residents)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F5E"/>
                          </a:solidFill>
                        </a:rPr>
                        <a:t>Response (Y)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−45.5 to +128.5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Unemp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Unemployment rate (%)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3.2 – 8.6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Wage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Average hourly wage ($/hr)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7.3 – 14.2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Crime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Crime rate per 100,000 residents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Income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Per-capita personal income ($)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Metrop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% population in metro areas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% population below poverty line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Taxes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Per-capita state tax ($)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Educ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% high school graduates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BusFail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Business failure rate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Temp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Mean annual temperature (°F)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Region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Geographic region (Midwest / NE / South / West)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6DA4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Categorical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4 levels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741264"/>
            <a:ext cx="8595360" cy="397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96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48 contiguous US states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63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Determinants of Domestic In-Migrants  |  PRMSS Statistics Sem II  |  2025–26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914400"/>
            <a:ext cx="4352544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914400"/>
            <a:ext cx="512064" cy="11155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" y="914400"/>
            <a:ext cx="5120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8096" y="969264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Identify Key Determinants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1225296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Determine which socio-economic and geographic factors significantly influence domestic in-migration rates across US states.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167128"/>
            <a:ext cx="4352544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2167128"/>
            <a:ext cx="512064" cy="11155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" y="2167128"/>
            <a:ext cx="5120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8096" y="222199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Build a Predictive Model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8096" y="2478024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Develop a Multiple Linear Regression (MLR) model to quantify the relationship between NDIR and predictor variables.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3419856"/>
            <a:ext cx="4352544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3419856"/>
            <a:ext cx="512064" cy="11155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" y="3419856"/>
            <a:ext cx="5120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8096" y="34747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Variable Selection via AIC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" y="3730752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Apply Stepwise AIC selection (bidirectional) to identify the most parsimonious model with optimal predictive performance.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914400"/>
            <a:ext cx="4352544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914400"/>
            <a:ext cx="512064" cy="11155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914400"/>
            <a:ext cx="5120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969264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Validate Assumptions &amp; Improve Fit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03520" y="1225296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Check MLR assumptions (normality, homoscedasticity, independence), detect outliers, and refit the model for better reliability.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592" y="2167128"/>
            <a:ext cx="4352544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2167128"/>
            <a:ext cx="512064" cy="11155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2167128"/>
            <a:ext cx="5120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03520" y="222199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Compare Models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03520" y="2478024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Compare the full model and stepwise model using R², Adjusted R², AIC, and ANOVA to select the best-fitting model.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Distribution of NDIR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3931920" cy="2788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58368"/>
            <a:ext cx="3931920" cy="25603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676656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NDIR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932688"/>
            <a:ext cx="3255264" cy="20904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43400" y="658368"/>
            <a:ext cx="4526280" cy="2788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43400" y="658368"/>
            <a:ext cx="4526280" cy="25603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9" name="Text 6"/>
          <p:cNvSpPr/>
          <p:nvPr/>
        </p:nvSpPr>
        <p:spPr>
          <a:xfrm>
            <a:off x="4416552" y="676656"/>
            <a:ext cx="4416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Index Plot of NDIR (48 States)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932688"/>
            <a:ext cx="4453128" cy="24780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4749" y="3364991"/>
            <a:ext cx="1005192" cy="947605"/>
          </a:xfrm>
          <a:prstGeom prst="rect">
            <a:avLst/>
          </a:prstGeom>
          <a:solidFill>
            <a:srgbClr val="0F2044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74320" y="3410712"/>
            <a:ext cx="1572768" cy="5934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10.89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74320" y="3958438"/>
            <a:ext cx="1572768" cy="431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Mean NDIR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237362" y="3364991"/>
            <a:ext cx="1108953" cy="947605"/>
          </a:xfrm>
          <a:prstGeom prst="rect">
            <a:avLst/>
          </a:prstGeom>
          <a:solidFill>
            <a:srgbClr val="1B4F8A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993392" y="3410712"/>
            <a:ext cx="1572768" cy="5934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9.25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993392" y="3958438"/>
            <a:ext cx="1572768" cy="431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910519" y="3410712"/>
            <a:ext cx="1108954" cy="901884"/>
          </a:xfrm>
          <a:prstGeom prst="rect">
            <a:avLst/>
          </a:prstGeom>
          <a:solidFill>
            <a:srgbClr val="1E7F5E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712464" y="3410712"/>
            <a:ext cx="1572768" cy="5934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128.5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712464" y="3958438"/>
            <a:ext cx="1572768" cy="431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Max (Nevada)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697294" y="3429000"/>
            <a:ext cx="1187555" cy="883596"/>
          </a:xfrm>
          <a:prstGeom prst="rect">
            <a:avLst/>
          </a:prstGeom>
          <a:solidFill>
            <a:srgbClr val="C0392B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431536" y="3410712"/>
            <a:ext cx="1572768" cy="5934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−45.5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431536" y="3958438"/>
            <a:ext cx="1572768" cy="431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 (New York)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431932" y="3419856"/>
            <a:ext cx="1044102" cy="892740"/>
          </a:xfrm>
          <a:prstGeom prst="rect">
            <a:avLst/>
          </a:prstGeom>
          <a:solidFill>
            <a:srgbClr val="2E6DA4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150608" y="3410712"/>
            <a:ext cx="1572768" cy="5934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34.2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150608" y="3958438"/>
            <a:ext cx="1572768" cy="431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Std. Dev.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274320" y="4448841"/>
            <a:ext cx="3931920" cy="658368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74320" y="4526280"/>
            <a:ext cx="54864" cy="658368"/>
          </a:xfrm>
          <a:prstGeom prst="rect">
            <a:avLst/>
          </a:prstGeom>
          <a:solidFill>
            <a:srgbClr val="C9922A"/>
          </a:solidFill>
          <a:ln/>
        </p:spPr>
      </p:sp>
      <p:sp>
        <p:nvSpPr>
          <p:cNvPr id="28" name="Text 24"/>
          <p:cNvSpPr/>
          <p:nvPr/>
        </p:nvSpPr>
        <p:spPr>
          <a:xfrm>
            <a:off x="384048" y="4466844"/>
            <a:ext cx="3767328" cy="233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384048" y="4700154"/>
            <a:ext cx="3767328" cy="420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Right-skewed; most states cluster 0–50. Nevada (+128.5) is a clear high outlier; New York (−45.5) at far left. Bulk of NDIR follows approximate normality when excluding outliers.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4343400" y="4448841"/>
            <a:ext cx="4526280" cy="658368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453128" y="4448841"/>
            <a:ext cx="4361688" cy="2816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Index Plot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4453128" y="4700154"/>
            <a:ext cx="4361688" cy="338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trend by state number. Obs 26 (Nevada) is far above all others. Variability appears roughly homogeneous, confirming cross-sectional nature of data.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78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Determinants of Domestic In-Migrants  |  PRMSS Statistics Sem II  |  2025–26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86868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Key Findings from EDA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01168" y="1207008"/>
          <a:ext cx="43891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4572000" y="1207008"/>
          <a:ext cx="43891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228600" y="33375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NDIR ranges from −45.5 to +128.5, indicating high variability in migration patterns across states.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28600" y="364845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of NDIR is right-skewed; most states have moderate or slightly positive migration rates.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8600" y="39593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states tend to have highest in-migration; Northeastern states show net out-migration.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28600" y="42702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reveals potential outliers at extreme ends — California (−37.2) and Nevada (+128.5).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Multiple Linear Regression?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743200" cy="1901952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786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1248" y="82296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Predictors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1188720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is driven simultaneously by economic, social, and environmental factors. Simple regression cannot capture joint effects — MLR models all predictors together, isolating each predictor's contribution while holding others constant.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54680" y="731520"/>
            <a:ext cx="2743200" cy="1901952"/>
          </a:xfrm>
          <a:prstGeom prst="rect">
            <a:avLst/>
          </a:prstGeom>
          <a:solidFill>
            <a:srgbClr val="D6E8F7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786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21608" y="82296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Quantify Effects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64408" y="1188720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MLR provides estimated regression coefficients (β) for each predictor, enabling us to say: 'Holding all else equal, a $1 increase in per-capita taxes reduces NDIR by β units.' This is essential for policy inference.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731520"/>
            <a:ext cx="2743200" cy="1901952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786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01968" y="82296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Response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44768" y="1188720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NDIR is a continuous numeric variable. MLR is the natural choice over logistic regression (which requires binary outcomes) or other methods that do not apply to continuous responses.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761488"/>
            <a:ext cx="2743200" cy="1901952"/>
          </a:xfrm>
          <a:prstGeom prst="rect">
            <a:avLst/>
          </a:prstGeom>
          <a:solidFill>
            <a:srgbClr val="D6E8F7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" y="285292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Mixed Predictor Types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" y="3218688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 contains both continuous variables (Income, Taxes, Temp…) and a categorical variable (Region). OLS MLR handles this seamlessly through dummy variable encoding of Region.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54680" y="2761488"/>
            <a:ext cx="2743200" cy="1901952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21608" y="285292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64408" y="3218688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MLR coefficients have direct, intuitive interpretations for policy-makers and researchers. Non-parametric or ML methods may outperform on prediction, but lack this transparency.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5040" y="2761488"/>
            <a:ext cx="2743200" cy="1901952"/>
          </a:xfrm>
          <a:prstGeom prst="rect">
            <a:avLst/>
          </a:prstGeom>
          <a:solidFill>
            <a:srgbClr val="D6E8F7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01968" y="285292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Inference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44768" y="3218688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OLS provides t-tests for each coefficient and an F-test for overall model significance, allowing us to rigorously test which factors statistically significantly predict migration.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879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 with NDIR — Pearson Coefficients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74320" y="658368"/>
          <a:ext cx="4023360" cy="448056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Predictor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 with NDIR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Taxes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−0.407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Negative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922A"/>
                          </a:solidFill>
                        </a:rPr>
                        <a:t>Moderate ★★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Metrop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−0.186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Negative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Weak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Unemp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−0.173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Negative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Weak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Wage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−0.180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Negative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Weak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Income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−0.158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Negative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Weak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−0.037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Negative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Negligible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BusFail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−0.046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Negative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Negligible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Temp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+0.075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Positive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Negligible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Educ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+0.103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Positive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Negligible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Crime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7F5E"/>
                          </a:solidFill>
                        </a:rPr>
                        <a:t>+0.007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Positive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Negligible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434840" y="658368"/>
            <a:ext cx="443484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434840" y="658368"/>
            <a:ext cx="4434840" cy="25603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6" name="Text 3"/>
          <p:cNvSpPr/>
          <p:nvPr/>
        </p:nvSpPr>
        <p:spPr>
          <a:xfrm>
            <a:off x="4507992" y="676656"/>
            <a:ext cx="4325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Heatmap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932688"/>
            <a:ext cx="4361688" cy="29352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34840" y="4005072"/>
            <a:ext cx="4434840" cy="1115568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44568" y="4123944"/>
            <a:ext cx="4270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 &amp; Multicollinearity Signals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544568" y="4389120"/>
            <a:ext cx="4270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Taxes has the strongest negative correlation with NDIR (r = −0.407). Most predictors show weak or negligible bivariate correlation with NDIR, suggesting that the relationship is multivariate. Notably, Income–Taxes (r = 0.69), Educ–Poor (r = −0.68), and Temp–Educ (r = −0.685) suggest potential multicollinearity — addressed by VIF analysis.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4079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OLS Model — Regression Output &amp; Interpretation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1335024" cy="749808"/>
          </a:xfrm>
          <a:prstGeom prst="rect">
            <a:avLst/>
          </a:prstGeom>
          <a:solidFill>
            <a:srgbClr val="0F2044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704088"/>
            <a:ext cx="1335024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0.518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70762"/>
            <a:ext cx="1335024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19072" y="658368"/>
            <a:ext cx="1335024" cy="749808"/>
          </a:xfrm>
          <a:prstGeom prst="rect">
            <a:avLst/>
          </a:prstGeom>
          <a:solidFill>
            <a:srgbClr val="0F2044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19072" y="704088"/>
            <a:ext cx="1335024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0.334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19072" y="1070762"/>
            <a:ext cx="1335024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Adj. R²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63824" y="658368"/>
            <a:ext cx="1335024" cy="749808"/>
          </a:xfrm>
          <a:prstGeom prst="rect">
            <a:avLst/>
          </a:prstGeom>
          <a:solidFill>
            <a:srgbClr val="1B4F8A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63824" y="704088"/>
            <a:ext cx="1335024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2.811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63824" y="1070762"/>
            <a:ext cx="1335024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08576" y="658368"/>
            <a:ext cx="1335024" cy="749808"/>
          </a:xfrm>
          <a:prstGeom prst="rect">
            <a:avLst/>
          </a:prstGeom>
          <a:solidFill>
            <a:srgbClr val="2E6DA4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704088"/>
            <a:ext cx="1335024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0.0078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8576" y="1070762"/>
            <a:ext cx="1335024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53328" y="658368"/>
            <a:ext cx="1335024" cy="749808"/>
          </a:xfrm>
          <a:prstGeom prst="rect">
            <a:avLst/>
          </a:prstGeom>
          <a:solidFill>
            <a:srgbClr val="2E6DA4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53328" y="704088"/>
            <a:ext cx="1335024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459.2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53328" y="1070762"/>
            <a:ext cx="1335024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98080" y="658368"/>
            <a:ext cx="1335024" cy="749808"/>
          </a:xfrm>
          <a:prstGeom prst="rect">
            <a:avLst/>
          </a:prstGeom>
          <a:solidFill>
            <a:srgbClr val="2E6DA4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0" y="704088"/>
            <a:ext cx="1335024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485.4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8080" y="1070762"/>
            <a:ext cx="1335024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4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309004" y="1481328"/>
          <a:ext cx="5405996" cy="3611880"/>
        </p:xfrm>
        <a:graphic>
          <a:graphicData uri="http://schemas.openxmlformats.org/drawingml/2006/table">
            <a:tbl>
              <a:tblPr/>
              <a:tblGrid>
                <a:gridCol w="115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Estimate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Std. Error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 value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Pr(&gt;|t|)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Sig.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(Intercept)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82.160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152.59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0.538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0.5940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Unemp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−1.412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5.320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−0.265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0.7923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Wage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−0.393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4.105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−0.096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0.9243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Crime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+0.020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0.025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0.786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0.4373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Income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−0.002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0.002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−0.883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0.3833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Metrop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−0.006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0.361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−0.016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0.9873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Poor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−2.583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2.232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−1.157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0.2553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Taxes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−0.013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0.018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−0.727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0.4724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Educ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+0.620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1.748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0.355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0.7252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BusFail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+14.950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48.350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0.309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0.7594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Temp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−0.217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1.262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−0.172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0.8650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Region(NE)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−16.830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17.720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−0.950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0.3492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Region(South)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+16.570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16.800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0.986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0.3310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2044"/>
                          </a:solidFill>
                        </a:rPr>
                        <a:t>Region(West)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2044"/>
                          </a:solidFill>
                        </a:rPr>
                        <a:t>+36.840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2044"/>
                          </a:solidFill>
                        </a:rPr>
                        <a:t>13.810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2044"/>
                          </a:solidFill>
                        </a:rPr>
                        <a:t>2.667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2044"/>
                          </a:solidFill>
                        </a:rPr>
                        <a:t>0.0120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7F5E"/>
                          </a:solidFill>
                        </a:rPr>
                        <a:t>★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979861" y="3399046"/>
            <a:ext cx="2971800" cy="210185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97880" y="1481328"/>
            <a:ext cx="54864" cy="17373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4" name="Text 21"/>
          <p:cNvSpPr/>
          <p:nvPr/>
        </p:nvSpPr>
        <p:spPr>
          <a:xfrm>
            <a:off x="6007608" y="1536192"/>
            <a:ext cx="2807208" cy="3956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Fit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007608" y="2634386"/>
            <a:ext cx="2807208" cy="2394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Overall model is jointly significant: F(13,34) = 2.811, p = 0.0078. R² = 0.518 (51.8% variance explained). Adj. R² = 0.334 accounts for the large number of predictors.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053328" y="4072738"/>
            <a:ext cx="2971800" cy="997610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897880" y="3310128"/>
            <a:ext cx="54864" cy="1783080"/>
          </a:xfrm>
          <a:prstGeom prst="rect">
            <a:avLst/>
          </a:prstGeom>
          <a:solidFill>
            <a:srgbClr val="1E7F5E"/>
          </a:solidFill>
          <a:ln/>
        </p:spPr>
      </p:sp>
      <p:sp>
        <p:nvSpPr>
          <p:cNvPr id="28" name="Text 25"/>
          <p:cNvSpPr/>
          <p:nvPr/>
        </p:nvSpPr>
        <p:spPr>
          <a:xfrm>
            <a:off x="6007608" y="4181014"/>
            <a:ext cx="2807208" cy="163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Predictor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007608" y="4344976"/>
            <a:ext cx="2807208" cy="684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Region(West) is individually significant (p = 0.012). Western states attract ~37 additional migrants per 10,000 residents compared to Midwest baseline. All other predictors are non-significant individually — likely due to multicollinearity inflating standard errors.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90D32D-C731-3F9D-8167-AF4C763F5CBF}"/>
              </a:ext>
            </a:extLst>
          </p:cNvPr>
          <p:cNvSpPr txBox="1"/>
          <p:nvPr/>
        </p:nvSpPr>
        <p:spPr>
          <a:xfrm>
            <a:off x="6064051" y="1727189"/>
            <a:ext cx="30175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NDIR^= 82.160−1.412(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Unemp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)−0.393(Wage)+0.020(Crime)−0.002(Income)−0.006(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Metrop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)−2.583(Poor)−0.013(Taxes)+0.620(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)+14.950(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BusFail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)−0.217(Temp)−16.830(Region(NE))+16.570(Region(South))+36.840(Region(West))</a:t>
            </a:r>
          </a:p>
        </p:txBody>
      </p:sp>
    </p:spTree>
    <p:extLst>
      <p:ext uri="{BB962C8B-B14F-4D97-AF65-F5344CB8AC3E}">
        <p14:creationId xmlns:p14="http://schemas.microsoft.com/office/powerpoint/2010/main" val="1277432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ANOVA — Full Model Sequential Analysis of Variance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74320" y="658368"/>
          <a:ext cx="6172200" cy="446227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32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df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SS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MS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 value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Sig.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Unemp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1397.6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1397.6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2.1217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0.154401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Wage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1122.6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1122.6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1.7045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0.200511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Crime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314.0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314.0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0.4767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0.494592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Income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1051.6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1051.6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1.5964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0.215003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Metrop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801.9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801.9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1.2174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0.277645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1777.4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1777.4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2.6982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0.109681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Taxes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5741.6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5741.6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8.7162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0.005682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F5E"/>
                          </a:solidFill>
                        </a:rPr>
                        <a:t>★★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Educ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3296.8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3296.8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5.0047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0.031942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F5E"/>
                          </a:solidFill>
                        </a:rPr>
                        <a:t>★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BusFail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17.3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17.3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0.0263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0.872233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Temp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15.2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15.2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0.0230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0.880296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A96B0"/>
                          </a:solidFill>
                        </a:rPr>
                        <a:t>ns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Region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8536.4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2845.5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4.3196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0.011022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F5E"/>
                          </a:solidFill>
                        </a:rPr>
                        <a:t>★★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3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Residuals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34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22396.8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658.7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995160" y="658368"/>
            <a:ext cx="1874520" cy="1234440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995160" y="658368"/>
            <a:ext cx="54864" cy="12344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3"/>
          <p:cNvSpPr/>
          <p:nvPr/>
        </p:nvSpPr>
        <p:spPr>
          <a:xfrm>
            <a:off x="7104888" y="713232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04888" y="978408"/>
            <a:ext cx="170992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F(13,34) = 2.811, p = 0.0078. Model is jointly significant at 1% level.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995160" y="1965960"/>
            <a:ext cx="1874520" cy="1234440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95160" y="1965960"/>
            <a:ext cx="54864" cy="1234440"/>
          </a:xfrm>
          <a:prstGeom prst="rect">
            <a:avLst/>
          </a:prstGeom>
          <a:solidFill>
            <a:srgbClr val="C9922A"/>
          </a:solidFill>
          <a:ln/>
        </p:spPr>
      </p:sp>
      <p:sp>
        <p:nvSpPr>
          <p:cNvPr id="10" name="Text 7"/>
          <p:cNvSpPr/>
          <p:nvPr/>
        </p:nvSpPr>
        <p:spPr>
          <a:xfrm>
            <a:off x="7104888" y="2020824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Taxes ★★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8"/>
          <p:cNvSpPr/>
          <p:nvPr/>
        </p:nvSpPr>
        <p:spPr>
          <a:xfrm>
            <a:off x="7104888" y="2286000"/>
            <a:ext cx="170992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 = 8.7162, p = 0.005682 Strongest sequential contributor among continuous predictors.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995160" y="3273552"/>
            <a:ext cx="1874520" cy="1234440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95160" y="3273552"/>
            <a:ext cx="54864" cy="12344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4" name="Text 11"/>
          <p:cNvSpPr/>
          <p:nvPr/>
        </p:nvSpPr>
        <p:spPr>
          <a:xfrm>
            <a:off x="7104888" y="332841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Region ★★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04888" y="3593592"/>
            <a:ext cx="170992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 = 4.3196, p = 0.011022. Most significant group — geographic location dominates.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95160" y="45902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96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Residual MS = 542.9 → est. σ² | Total SS = 38,304.4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585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Model &amp; ANOVA (Original Data, n=48)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Determinants of Domestic In-Migrants  |  PRMSS Statistics Sem II  |  2025–26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8412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NDIR ~ Unemp + Wage + Crime + Income + Metrop + Poor + Taxes + Educ + BusFail + Temp + Region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2011680" cy="804672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" y="1188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900"/>
                </a:solidFill>
              </a:rPr>
              <a:t>R²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" y="1408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0.518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" y="1719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B3C8"/>
                </a:solidFill>
              </a:rPr>
              <a:t>Model explains 51.8% of variance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14016" y="1170432"/>
            <a:ext cx="2011680" cy="804672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14016" y="1188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900"/>
                </a:solidFill>
              </a:rPr>
              <a:t>Adj. R²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14016" y="1408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0.334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719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B3C8"/>
                </a:solidFill>
              </a:rPr>
              <a:t>Penalized for extra predictors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26864" y="1170432"/>
            <a:ext cx="2011680" cy="804672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1188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900"/>
                </a:solidFill>
              </a:rPr>
              <a:t>F-statistic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408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2.811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26864" y="1719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B3C8"/>
                </a:solidFill>
              </a:rPr>
              <a:t>p = 0.0078 — model is significant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39712" y="1170432"/>
            <a:ext cx="2011680" cy="804672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39712" y="1188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900"/>
                </a:solidFill>
              </a:rPr>
              <a:t>RSE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9712" y="1408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25.67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39712" y="1719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B3C8"/>
                </a:solidFill>
              </a:rPr>
              <a:t>Residual std. error (large)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1168" y="208483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Key Coefficients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2377440"/>
          <a:ext cx="4297680" cy="2084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West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Taxes (ANOVA)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 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 (ANOVA)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(ANOVA)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others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663440" y="20848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663440" y="237744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RegionWest is individually significant (β=36.84, p=0.012), indicating Western states attract substantially more migrants.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663440" y="285292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reveals Taxes (p=0.006) and Region (p=0.011) as sequentially important.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663440" y="3328416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R²=0.518 but low Adj.R²=0.334 suggests overfitting with too many predictors.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63440" y="3803904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RSE (25.67) indicates poor prediction precision — model needs refinement.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63440" y="427939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individual predictors are non-significant due to multicollinearity and outliers.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 Checks — Full OLS Model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4069080" cy="439826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58368"/>
            <a:ext cx="4069080" cy="25603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676656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Plots — Full Model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23" y="932688"/>
            <a:ext cx="3995928" cy="39856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882732"/>
            <a:ext cx="3959352" cy="240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Residuals, Histogram &amp; Cook's 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480560" y="658368"/>
            <a:ext cx="4389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0560" y="658368"/>
            <a:ext cx="54864" cy="822960"/>
          </a:xfrm>
          <a:prstGeom prst="rect">
            <a:avLst/>
          </a:prstGeom>
          <a:solidFill>
            <a:srgbClr val="C9922A"/>
          </a:solidFill>
          <a:ln/>
        </p:spPr>
      </p:sp>
      <p:sp>
        <p:nvSpPr>
          <p:cNvPr id="13" name="Text 9"/>
          <p:cNvSpPr/>
          <p:nvPr/>
        </p:nvSpPr>
        <p:spPr>
          <a:xfrm>
            <a:off x="4608576" y="6949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 Normality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388352" y="69494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Mild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608576" y="932688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Shapiro-Wilk: W=0.911, p=0.0015 → Reject H₀. QQ plot shows tail departures (Nevada, CA). Mild violation; bulk of residuals normal.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480560" y="1563624"/>
            <a:ext cx="4389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80560" y="1563624"/>
            <a:ext cx="54864" cy="822960"/>
          </a:xfrm>
          <a:prstGeom prst="rect">
            <a:avLst/>
          </a:prstGeom>
          <a:solidFill>
            <a:srgbClr val="1E7F5E"/>
          </a:solidFill>
          <a:ln/>
        </p:spPr>
      </p:sp>
      <p:sp>
        <p:nvSpPr>
          <p:cNvPr id="18" name="Text 14"/>
          <p:cNvSpPr/>
          <p:nvPr/>
        </p:nvSpPr>
        <p:spPr>
          <a:xfrm>
            <a:off x="4608576" y="16002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 Homoscedasticity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388352" y="16002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7F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608576" y="1837944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Breusch-Pagan: LM=21.87, p=0.057. Scale-Location plot is roughly flat → borderline. Fail to reject H₀ at α=5%.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480560" y="2468880"/>
            <a:ext cx="4389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80560" y="2468880"/>
            <a:ext cx="54864" cy="822960"/>
          </a:xfrm>
          <a:prstGeom prst="rect">
            <a:avLst/>
          </a:prstGeom>
          <a:solidFill>
            <a:srgbClr val="1E7F5E"/>
          </a:solidFill>
          <a:ln/>
        </p:spPr>
      </p:sp>
      <p:sp>
        <p:nvSpPr>
          <p:cNvPr id="23" name="Text 19"/>
          <p:cNvSpPr/>
          <p:nvPr/>
        </p:nvSpPr>
        <p:spPr>
          <a:xfrm>
            <a:off x="4608576" y="2505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 Autocorrelation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7388352" y="25054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7F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608576" y="2743200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Durbin-Watson: DW=2.215, p=0.486. No serial autocorrelation in residuals. Cross-sectional data — expected.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4480560" y="3374136"/>
            <a:ext cx="4389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480560" y="3374136"/>
            <a:ext cx="54864" cy="822960"/>
          </a:xfrm>
          <a:prstGeom prst="rect">
            <a:avLst/>
          </a:prstGeom>
          <a:solidFill>
            <a:srgbClr val="1E7F5E"/>
          </a:solidFill>
          <a:ln/>
        </p:spPr>
      </p:sp>
      <p:sp>
        <p:nvSpPr>
          <p:cNvPr id="28" name="Text 24"/>
          <p:cNvSpPr/>
          <p:nvPr/>
        </p:nvSpPr>
        <p:spPr>
          <a:xfrm>
            <a:off x="4608576" y="34107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 Multicollinearity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388352" y="341071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7F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608576" y="3648456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Adj. VIF &lt; 4 (max=3.83, Temp). No problematic multicollinearity despite bivariate inter-predictor correlations.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4480560" y="4279392"/>
            <a:ext cx="4389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480560" y="4279392"/>
            <a:ext cx="54864" cy="822960"/>
          </a:xfrm>
          <a:prstGeom prst="rect">
            <a:avLst/>
          </a:prstGeom>
          <a:solidFill>
            <a:srgbClr val="1E7F5E"/>
          </a:solidFill>
          <a:ln/>
        </p:spPr>
      </p:sp>
      <p:sp>
        <p:nvSpPr>
          <p:cNvPr id="33" name="Text 29"/>
          <p:cNvSpPr/>
          <p:nvPr/>
        </p:nvSpPr>
        <p:spPr>
          <a:xfrm>
            <a:off x="4608576" y="43159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 Influential Obs.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388352" y="4315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7F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608576" y="4553712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Cook's D: max=0.66 (Obs 4, CA). No obs exceeds threshold of 1.0. Obs 26 (Nevada) and Obs 29 (NY) flagged for leverage.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0350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(VIF) &amp; Influential Observations Detail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658367"/>
            <a:ext cx="4453128" cy="4377759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76656"/>
            <a:ext cx="4434840" cy="237744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676656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Adjusted VIF — All Predictors (threshold: 5 = orange, 10 = red)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932688"/>
            <a:ext cx="4453128" cy="402031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914206" y="658368"/>
          <a:ext cx="4160520" cy="2743200"/>
        </p:xfrm>
        <a:graphic>
          <a:graphicData uri="http://schemas.openxmlformats.org/drawingml/2006/table">
            <a:tbl>
              <a:tblPr/>
              <a:tblGrid>
                <a:gridCol w="1248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GVIF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df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Adj. VIF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Temp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14.68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40A"/>
                          </a:solidFill>
                        </a:rPr>
                        <a:t>3.83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Educ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13.91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40A"/>
                          </a:solidFill>
                        </a:rPr>
                        <a:t>3.73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15.84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1.99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Poor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12.07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40A"/>
                          </a:solidFill>
                        </a:rPr>
                        <a:t>3.47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Income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11.07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40A"/>
                          </a:solidFill>
                        </a:rPr>
                        <a:t>3.33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Taxes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10.04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40A"/>
                          </a:solidFill>
                        </a:rPr>
                        <a:t>3.17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Metrop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5.40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2.32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Crime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4.43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2.11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Unemp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3.11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1.76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Wage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2.82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1.68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BusFail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2.65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2044"/>
                          </a:solidFill>
                        </a:rPr>
                        <a:t>1.63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47472" y="3297382"/>
            <a:ext cx="4187952" cy="488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914206" y="3410712"/>
            <a:ext cx="3955474" cy="960120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914206" y="3419856"/>
            <a:ext cx="390061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VIF Verdict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980708" y="3474720"/>
            <a:ext cx="3834107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model: All Adj. VIF &lt; 4 (max Temp=3.83). Stepwise model VIF: Income (Adj. VIF=1.40), Poor (Adj. VIF=1.40), Region (Adj. VIF=1.07) — all extremely low. No multicollinearity concern in either model.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941638" y="4230900"/>
            <a:ext cx="3955474" cy="832104"/>
          </a:xfrm>
          <a:prstGeom prst="rect">
            <a:avLst/>
          </a:prstGeom>
          <a:solidFill>
            <a:srgbClr val="F4F7FB"/>
          </a:solidFill>
          <a:ln w="10160">
            <a:solidFill>
              <a:srgbClr val="C8D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914206" y="4142232"/>
            <a:ext cx="390061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20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 Obs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914206" y="4485132"/>
            <a:ext cx="390061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4A6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Obs 4 (CA): Cook's D = 0.66 — most influential but &lt; 1.0. Obs 26 (NV): extreme response outlier (+128.5), D = 0.29. Obs 29 (NY): high leverage but low Cook's D. No removal needed.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074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&amp; Removal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Determinants of Domestic In-Migrants  |  PRMSS Statistics Sem II  |  2025–26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8686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Outliers Identified — States 4, 26, 29, 30, 32, 45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207008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207008"/>
            <a:ext cx="420624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2070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</a:rPr>
              <a:t>Studentized Residuals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148132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States 4 &amp; 26 exceed |2|: values −4.02 and +4.78 respectively — extreme regression outliers.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207008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07008"/>
            <a:ext cx="420624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070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</a:rPr>
              <a:t>Cook's Distance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48132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States 4, 26, 29, 30, 32, 45 exceed the 4/n threshold — influential on regression coefficients.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2167128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167128"/>
            <a:ext cx="420624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671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</a:rPr>
              <a:t>Hat Values (Leverage)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" y="244144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State 30 has hat value 0.687 &gt; 2p/n = 0.58 — high leverage point with extreme predictor values.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167128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167128"/>
            <a:ext cx="420624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1671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</a:rPr>
              <a:t>DFFITS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244144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States 4 (|−3.66|) and 26 (|+2.59|) show extreme influence on fitted values when removed.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3200400"/>
            <a:ext cx="8741664" cy="1572768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32644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00"/>
                </a:solidFill>
              </a:rPr>
              <a:t>WHY We Remove Outliers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566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violate the normality assumption of MLR residuals (Shapiro-Wilk p=0.0015 &lt; 0.05 with outliers).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858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 points (high Cook's D) distort regression coefficients, leading to biased and unreliable estimates.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15137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confirmed influential outliers improved model fit: R² rose from 0.518 → 0.783, RSE dropped 25.67 → 13.7.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44398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Post-removal Shapiro-Wilk: W=0.988, p=0.935 — residuals now follow normal distribution (assumption satisfied).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Model: New Data (n=42), Summary &amp; ANOVA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Determinants of Domestic In-Migrants  |  PRMSS Statistics Sem II  |  2025–26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84124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C8C"/>
                </a:solidFill>
              </a:rPr>
              <a:t>After removing 6 outliers (obs. 4, 26, 29, 30, 32, 45) — Full model refit on 42 states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133856"/>
            <a:ext cx="2011680" cy="841248"/>
          </a:xfrm>
          <a:prstGeom prst="rect">
            <a:avLst/>
          </a:prstGeom>
          <a:solidFill>
            <a:srgbClr val="0D7C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" y="11521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" y="13716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900"/>
                </a:solidFill>
              </a:rPr>
              <a:t>0.783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01168" y="1709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Explains 78.3% of variance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14016" y="1133856"/>
            <a:ext cx="2011680" cy="841248"/>
          </a:xfrm>
          <a:prstGeom prst="rect">
            <a:avLst/>
          </a:prstGeom>
          <a:solidFill>
            <a:srgbClr val="0D7C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14016" y="11521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Adj. R²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14016" y="13716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900"/>
                </a:solidFill>
              </a:rPr>
              <a:t>0.683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414016" y="1709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Strong after adjustment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26864" y="1133856"/>
            <a:ext cx="2011680" cy="841248"/>
          </a:xfrm>
          <a:prstGeom prst="rect">
            <a:avLst/>
          </a:prstGeom>
          <a:solidFill>
            <a:srgbClr val="0D7C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11521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F-statistic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3716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900"/>
                </a:solidFill>
              </a:rPr>
              <a:t>7.792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26864" y="1709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p = 3.1×10⁻⁶ — Highly significant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39712" y="1133856"/>
            <a:ext cx="2011680" cy="841248"/>
          </a:xfrm>
          <a:prstGeom prst="rect">
            <a:avLst/>
          </a:prstGeom>
          <a:solidFill>
            <a:srgbClr val="0D7C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39712" y="11521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9712" y="13716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900"/>
                </a:solidFill>
              </a:rPr>
              <a:t>13.7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839712" y="1709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Much improved from 25.67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" y="20848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ANOVA Table — New Data Full Model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2377440"/>
          <a:ext cx="8741664" cy="30708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066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Sq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2265.7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2265.7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2099.3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2099.3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1419.9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1419.9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BusFail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8164.7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6.9×10⁻⁶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Assumptions — After Outlier Removal (n=42)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Determinants of Domestic In-Migrants  |  PRMSS Statistics Sem II  |  2025–26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914400"/>
            <a:ext cx="874166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914400"/>
            <a:ext cx="128016" cy="1143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9692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Normality of Residuals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96926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SATISFIED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" y="12252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Shapiro-Wilk Test   |   Result: W = 0.9881,  p = 0.9346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" y="146304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&gt;&gt; 0.05: residuals are normally distributed. Assumption fully satisfied after removing influential outliers.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" y="2176272"/>
            <a:ext cx="874166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176272"/>
            <a:ext cx="128016" cy="1143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2311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Homoscedasticity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2311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SATISFIED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" y="248716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Breusch-Pagan Test   |   Result: BP = 13.218,  df = 13,  p = 0.4311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27249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0.43 &gt;&gt; 0.05: no evidence of heteroscedasticity. Variance of residuals is constant.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168" y="3438144"/>
            <a:ext cx="874166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3438144"/>
            <a:ext cx="128016" cy="1143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3493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Independence of Residuals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49300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SATISFIED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0624" y="37490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Durbin-Watson Test   |   Result: DW = 1.9858,  p = 0.4484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" y="398678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≈ 2.0 with p = 0.45: no significant autocorrelation in residuals.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1168" y="4681728"/>
            <a:ext cx="8741664" cy="164592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27" name="Text 25"/>
          <p:cNvSpPr/>
          <p:nvPr/>
        </p:nvSpPr>
        <p:spPr>
          <a:xfrm>
            <a:off x="201168" y="4681728"/>
            <a:ext cx="8741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All three core MLR assumptions are now satisfied — the refined model is statistically valid.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AIC Regression — Selected Model &amp; Interpretation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Determinants of Domestic In-Migrants  |  PRMSS Statistics Sem II  |  2025–26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8503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(AIC = 221.23):  NDIR ~ Unemp + Income + Poor + Educ + BusFail + Region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2011680" cy="658368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" y="1188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900"/>
                </a:solidFill>
              </a:rPr>
              <a:t>R²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" y="13716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0.781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414016" y="1170432"/>
            <a:ext cx="2011680" cy="658368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14016" y="1188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900"/>
                </a:solidFill>
              </a:rPr>
              <a:t>Adj. R²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14016" y="13716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0.728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626864" y="1170432"/>
            <a:ext cx="2011680" cy="658368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188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900"/>
                </a:solidFill>
              </a:rPr>
              <a:t>F-statistic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26864" y="13716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14.74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839712" y="1170432"/>
            <a:ext cx="2011680" cy="658368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39712" y="1188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900"/>
                </a:solidFill>
              </a:rPr>
              <a:t>p-value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39712" y="13716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6.8×10⁻⁹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01168" y="1920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Selected Predictors &amp; Coefficients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2212848"/>
          <a:ext cx="438912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(Intercept)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−4.556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RegionSouth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RegionWest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6.3×10⁻⁷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736592" y="19202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Interpretation of Key Coefficients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36592" y="2231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</a:rPr>
              <a:t>Income (−):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80760" y="22311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For every $1 increase in per capita income, NDIR decreases by 0.00186 — wealthier states lose migrants.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36592" y="266090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</a:rPr>
              <a:t>BusFail (+):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80760" y="266090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 1-unit rise in business failure rate increases NDIR by 58.3 — distressed business environments attract migrants seeking opportunity elsewhere.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36592" y="3090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</a:rPr>
              <a:t>RegionWest (+++):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080760" y="30906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Western states have on average 43.3 more NDIR than Midwest baseline — strong pull factor.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736592" y="3520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</a:rPr>
              <a:t>RegionNE (−):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80760" y="3520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Northeastern states have ~19.6 lower NDIR than Midwest — push-out of population.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36592" y="39502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</a:rPr>
              <a:t>Unemp (−):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080760" y="39502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Higher unemployment repels in-migrants; each 1% rise reduces NDIR by ~4.56.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736592" y="43799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C"/>
                </a:solidFill>
              </a:rPr>
              <a:t>Poor (−):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080760" y="43799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Higher poverty rates discourage in-migration; states with high poverty see less influx.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ANOVA &amp; Model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Determinants of Domestic In-Migrants  |  PRMSS Statistics Sem II  |  2025–26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8686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Stepwise Model ANOVA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170432"/>
          <a:ext cx="4297680" cy="234086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2.3×10⁻⁵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6.7×10⁻⁹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663440" y="8686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ANOVA: Stepwise vs Full Model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70432"/>
          <a:ext cx="4206240" cy="11704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Res.Df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Stepwise (Model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(Model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663440" y="24323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C8C"/>
                </a:solidFill>
              </a:rPr>
              <a:t>F = 0.056,  p = 0.998 — Full model NOT significantly better than stepwise.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01168" y="341985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Comprehensive Model Comparison</a:t>
            </a:r>
            <a:endParaRPr lang="en-US" sz="13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712464"/>
          <a:ext cx="8741664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Full (n=48)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Full (n=42)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Stepwise (n=42)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(observations)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(p)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(p)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221.23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F-stat 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3.1×10⁻⁶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6.8×10⁻⁹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Normality (S-W)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p=0.935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p=0.935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Determinants of Domestic In-Migrants  |  PRMSS Statistics Sem II  |  2025–26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914400"/>
            <a:ext cx="5303520" cy="384048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914400"/>
            <a:ext cx="5303520" cy="31089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91440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KEY CONCLUSIONS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129844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is the strongest determinant of in-migration; Western states have the highest attraction (β=+43.3, p&lt;0.001).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92608" y="1764792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negatively affects NDIR — wealthier states experience net out-migration of lower-income migrants.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92608" y="2231136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failure rate (BusFail) surprisingly shows a positive effect, possibly capturing economic dynamism.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292608" y="2697480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and unemployment are significant deterrents to in-migration, as economically vulnerable states attract fewer migrants.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292608" y="316382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stepwise model (8 predictors) is as good as the full model (13 predictors) — F-test confirms parsimony.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92608" y="363016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6 outliers, model quality improved dramatically: R² 0.518→0.783, all assumptions met.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92608" y="4096512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RegionNortheast shows a significant negative coefficient — population is moving out of northeastern states.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669280" y="914400"/>
            <a:ext cx="3291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914400"/>
            <a:ext cx="3291840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91440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1298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⚠ Cross-sectional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14813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</a:rPr>
              <a:t>Single time-point data cannot capture temporal trends or causality in migration.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760720" y="18653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⚠ Omitted Variables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204825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</a:rPr>
              <a:t>Factors like housing cost, amenities, political climate not included.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760720" y="24323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⚠ Outlier Removal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261518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</a:rPr>
              <a:t>Removing 6 states (12.5% of data) may reduce generalizability.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5760720" y="299923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⚠ Linearity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1821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</a:rPr>
              <a:t>Assumes linear relationships; non-linear effects may exist.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760720" y="35661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⚠ Sample Size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37490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</a:rPr>
              <a:t>n=42 is moderate; larger samples would improve power.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5760720" y="41330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⚠ Endogeneity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43159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</a:rPr>
              <a:t>Some predictors (income, taxes) may be influenced by migration itself.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AB3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37160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for Further Research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88920" cy="1627632"/>
          </a:xfrm>
          <a:prstGeom prst="rect">
            <a:avLst/>
          </a:prstGeom>
          <a:solidFill>
            <a:srgbClr val="1A2E6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788920" cy="274320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05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01. Longitudinal Panel Data Analysis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316736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multi-year panel data to track migration trends over time and establish causality using fixed-effects or random-effects models.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005840"/>
            <a:ext cx="2788920" cy="1627632"/>
          </a:xfrm>
          <a:prstGeom prst="rect">
            <a:avLst/>
          </a:prstGeom>
          <a:solidFill>
            <a:srgbClr val="1A2E6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05840"/>
            <a:ext cx="2788920" cy="274320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005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02. Non-Linear &amp; Machine Learning Models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64408" y="1316736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Random Forest, Gradient Boosting, or polynomial regression to capture non-linear relationships and improve prediction accuracy.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788920" cy="1627632"/>
          </a:xfrm>
          <a:prstGeom prst="rect">
            <a:avLst/>
          </a:prstGeom>
          <a:solidFill>
            <a:srgbClr val="1A2E6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005840"/>
            <a:ext cx="2788920" cy="274320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1005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03. Geographic &amp; Spatial Models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08776" y="1316736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spatial regression (Moran's I, SAR, SEM) to account for spatial autocorrelation between neighboring states.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788920"/>
            <a:ext cx="2788920" cy="1627632"/>
          </a:xfrm>
          <a:prstGeom prst="rect">
            <a:avLst/>
          </a:prstGeom>
          <a:solidFill>
            <a:srgbClr val="1A2E6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788920"/>
            <a:ext cx="2788920" cy="274320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7889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04. Additional Predictors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3099816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housing affordability index, cost of living, healthcare access, climate change indices, and political governance scores.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2788920"/>
            <a:ext cx="2788920" cy="1627632"/>
          </a:xfrm>
          <a:prstGeom prst="rect">
            <a:avLst/>
          </a:prstGeom>
          <a:solidFill>
            <a:srgbClr val="1A2E6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2788920"/>
            <a:ext cx="2788920" cy="274320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24" name="Text 22"/>
          <p:cNvSpPr/>
          <p:nvPr/>
        </p:nvSpPr>
        <p:spPr>
          <a:xfrm>
            <a:off x="3264408" y="27889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05. State-Level Policy Simulations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64408" y="3099816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to simulate how policy changes (tax cuts, job creation) would affect in-migration rates for targeted intervention.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17336" y="2788920"/>
            <a:ext cx="2788920" cy="1627632"/>
          </a:xfrm>
          <a:prstGeom prst="rect">
            <a:avLst/>
          </a:prstGeom>
          <a:solidFill>
            <a:srgbClr val="1A2E6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2788920"/>
            <a:ext cx="2788920" cy="274320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28" name="Text 26"/>
          <p:cNvSpPr/>
          <p:nvPr/>
        </p:nvSpPr>
        <p:spPr>
          <a:xfrm>
            <a:off x="6208776" y="27889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06. Sub-Group Analysis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08776" y="3099816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Disaggregate NDIR by age group, income bracket, and education level to study heterogeneous migration motives.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Thank You  |  Shubham Chavan (2514)  •  Tejal Takir (2553)  •  Prajyukta Gaikwad (2518)  |  PRMSS Statistics Sem II 2025-26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3435</Words>
  <Application>Microsoft Office PowerPoint</Application>
  <PresentationFormat>On-screen Show (16:9)</PresentationFormat>
  <Paragraphs>915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Determinants of Domestic In-Migrants Across US States</dc:title>
  <dc:subject>PptxGenJS Presentation</dc:subject>
  <dc:creator>PptxGenJS</dc:creator>
  <cp:lastModifiedBy>tejaltake@outlook.com</cp:lastModifiedBy>
  <cp:revision>3</cp:revision>
  <dcterms:created xsi:type="dcterms:W3CDTF">2026-05-13T06:02:39Z</dcterms:created>
  <dcterms:modified xsi:type="dcterms:W3CDTF">2026-05-13T13:02:33Z</dcterms:modified>
</cp:coreProperties>
</file>